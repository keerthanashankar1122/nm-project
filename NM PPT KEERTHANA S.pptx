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5"/>
  </p:notesMasterIdLst>
  <p:sldIdLst>
    <p:sldId id="264" r:id="rId5"/>
    <p:sldId id="312" r:id="rId6"/>
    <p:sldId id="313" r:id="rId7"/>
    <p:sldId id="314" r:id="rId8"/>
    <p:sldId id="315" r:id="rId9"/>
    <p:sldId id="316" r:id="rId10"/>
    <p:sldId id="317" r:id="rId11"/>
    <p:sldId id="318" r:id="rId12"/>
    <p:sldId id="319" r:id="rId13"/>
    <p:sldId id="320" r:id="rId14"/>
    <p:sldId id="321" r:id="rId15"/>
    <p:sldId id="322" r:id="rId16"/>
    <p:sldId id="323" r:id="rId17"/>
    <p:sldId id="324" r:id="rId18"/>
    <p:sldId id="325" r:id="rId19"/>
    <p:sldId id="326" r:id="rId20"/>
    <p:sldId id="327" r:id="rId21"/>
    <p:sldId id="328" r:id="rId22"/>
    <p:sldId id="329" r:id="rId23"/>
    <p:sldId id="33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slide" Target="slides/slide9.xml" /><Relationship Id="rId18" Type="http://schemas.openxmlformats.org/officeDocument/2006/relationships/slide" Target="slides/slide14.xml" /><Relationship Id="rId26" Type="http://schemas.openxmlformats.org/officeDocument/2006/relationships/presProps" Target="presProps.xml" /><Relationship Id="rId3" Type="http://schemas.openxmlformats.org/officeDocument/2006/relationships/customXml" Target="../customXml/item3.xml" /><Relationship Id="rId21" Type="http://schemas.openxmlformats.org/officeDocument/2006/relationships/slide" Target="slides/slide17.xml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17" Type="http://schemas.openxmlformats.org/officeDocument/2006/relationships/slide" Target="slides/slide13.xml" /><Relationship Id="rId25" Type="http://schemas.openxmlformats.org/officeDocument/2006/relationships/notesMaster" Target="notesMasters/notesMaster1.xml" /><Relationship Id="rId2" Type="http://schemas.openxmlformats.org/officeDocument/2006/relationships/customXml" Target="../customXml/item2.xml" /><Relationship Id="rId16" Type="http://schemas.openxmlformats.org/officeDocument/2006/relationships/slide" Target="slides/slide12.xml" /><Relationship Id="rId20" Type="http://schemas.openxmlformats.org/officeDocument/2006/relationships/slide" Target="slides/slide16.xml" /><Relationship Id="rId29" Type="http://schemas.openxmlformats.org/officeDocument/2006/relationships/tableStyles" Target="tableStyles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24" Type="http://schemas.openxmlformats.org/officeDocument/2006/relationships/slide" Target="slides/slide20.xml" /><Relationship Id="rId5" Type="http://schemas.openxmlformats.org/officeDocument/2006/relationships/slide" Target="slides/slide1.xml" /><Relationship Id="rId15" Type="http://schemas.openxmlformats.org/officeDocument/2006/relationships/slide" Target="slides/slide11.xml" /><Relationship Id="rId23" Type="http://schemas.openxmlformats.org/officeDocument/2006/relationships/slide" Target="slides/slide19.xml" /><Relationship Id="rId28" Type="http://schemas.openxmlformats.org/officeDocument/2006/relationships/theme" Target="theme/theme1.xml" /><Relationship Id="rId10" Type="http://schemas.openxmlformats.org/officeDocument/2006/relationships/slide" Target="slides/slide6.xml" /><Relationship Id="rId19" Type="http://schemas.openxmlformats.org/officeDocument/2006/relationships/slide" Target="slides/slide15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slide" Target="slides/slide10.xml" /><Relationship Id="rId22" Type="http://schemas.openxmlformats.org/officeDocument/2006/relationships/slide" Target="slides/slide18.xml" /><Relationship Id="rId27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6DBDFE-DD3D-4291-A404-1B97A83A6EA8}" type="datetimeFigureOut">
              <a:rPr lang="en-US" smtClean="0"/>
              <a:t>9/19/2025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456DE3-4E01-4AFD-AD42-42312842ED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961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9870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1904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9/19/2025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701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9/19/2025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881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9/19/2025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732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9/19/2025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582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9/19/2025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732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9/19/2025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587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9/19/2025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327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9/19/2025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60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9/19/2025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9103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5" Type="http://schemas.openxmlformats.org/officeDocument/2006/relationships/slideLayout" Target="../slideLayouts/slideLayout5.xml" /><Relationship Id="rId10" Type="http://schemas.openxmlformats.org/officeDocument/2006/relationships/theme" Target="../theme/theme1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9/19/2025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90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 /><Relationship Id="rId2" Type="http://schemas.openxmlformats.org/officeDocument/2006/relationships/slideLayout" Target="../slideLayouts/slideLayout1.xml" /><Relationship Id="rId1" Type="http://schemas.openxmlformats.org/officeDocument/2006/relationships/themeOverride" Target="../theme/themeOverride1.xml" /><Relationship Id="rId4" Type="http://schemas.openxmlformats.org/officeDocument/2006/relationships/image" Target="../media/image2.jpe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 /><Relationship Id="rId2" Type="http://schemas.openxmlformats.org/officeDocument/2006/relationships/slideLayout" Target="../slideLayouts/slideLayout2.xml" /><Relationship Id="rId1" Type="http://schemas.openxmlformats.org/officeDocument/2006/relationships/themeOverride" Target="../theme/themeOverride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 /><Relationship Id="rId2" Type="http://schemas.openxmlformats.org/officeDocument/2006/relationships/image" Target="../media/image6.jp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lower illustrations">
            <a:extLst>
              <a:ext uri="{FF2B5EF4-FFF2-40B4-BE49-F238E27FC236}">
                <a16:creationId xmlns:a16="http://schemas.microsoft.com/office/drawing/2014/main" id="{46768272-0F6A-4E58-A45C-F10D015D89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80" cy="6858000"/>
          </a:xfrm>
          <a:prstGeom prst="rect">
            <a:avLst/>
          </a:prstGeom>
        </p:spPr>
      </p:pic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BF9FFE17-DE95-4821-ACC1-B90C95449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3CF76AF-FF72-4430-A772-058403290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1132" y="2091263"/>
            <a:ext cx="8649738" cy="2590800"/>
          </a:xfrm>
        </p:spPr>
        <p:txBody>
          <a:bodyPr>
            <a:normAutofit/>
          </a:bodyPr>
          <a:lstStyle/>
          <a:p>
            <a:endParaRPr lang="en-US" sz="6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1130" y="4682062"/>
            <a:ext cx="8652788" cy="45720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800" dirty="0"/>
              <a:t>Sit Dolor Amet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B1C8180-2FDD-4202-8C45-4057CB1AB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6E86CC6-13EA-4A88-86AD-CF27BF52C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F80B441-4F7D-4B40-8A13-FED03A1F3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4182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0C7FD1A-44B1-4E4C-B0C9-A8103DCCD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913025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flower illustrations">
            <a:extLst>
              <a:ext uri="{FF2B5EF4-FFF2-40B4-BE49-F238E27FC236}">
                <a16:creationId xmlns:a16="http://schemas.microsoft.com/office/drawing/2014/main" id="{46768272-0F6A-4E58-A45C-F10D015D89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410" y="0"/>
            <a:ext cx="12191980" cy="6858000"/>
          </a:xfrm>
          <a:prstGeom prst="rect">
            <a:avLst/>
          </a:prstGeom>
        </p:spPr>
      </p:pic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F9FFE17-DE95-4821-ACC1-B90C95449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60270" y="14201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CF76AF-FF72-4430-A772-058403290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0201" y="15640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 txBox="1">
            <a:spLocks/>
          </p:cNvSpPr>
          <p:nvPr/>
        </p:nvSpPr>
        <p:spPr>
          <a:xfrm>
            <a:off x="1923530" y="4834462"/>
            <a:ext cx="8652788" cy="4572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800" kern="1200" spc="8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1C8180-2FDD-4202-8C45-4057CB1AB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8280" y="14201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6E86CC6-13EA-4A88-86AD-CF27BF52C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2580" y="14201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F80B441-4F7D-4B40-8A13-FED03A1F3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94220" y="14201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0C7FD1A-44B1-4E4C-B0C9-A8103DCCD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2580" y="2065425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CA54006-DF78-6AA6-60D8-AAA0E16DD0AE}"/>
              </a:ext>
            </a:extLst>
          </p:cNvPr>
          <p:cNvSpPr txBox="1"/>
          <p:nvPr/>
        </p:nvSpPr>
        <p:spPr>
          <a:xfrm>
            <a:off x="4057158" y="2964948"/>
            <a:ext cx="5079689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u="sng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</a:t>
            </a:r>
            <a:r>
              <a:rPr lang="en-US" sz="5400" b="1" u="sng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Portfolio</a:t>
            </a:r>
            <a:r>
              <a:rPr lang="en-US" sz="4800" b="1" u="sng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4800" b="1" u="sng" dirty="0">
                <a:solidFill>
                  <a:srgbClr val="0F0F0F"/>
                </a:solidFill>
                <a:latin typeface="Roboto" panose="020F0502020204030204" pitchFamily="2" charset="0"/>
              </a:rPr>
            </a:br>
            <a:endParaRPr lang="en-IN" sz="4800" b="1" dirty="0"/>
          </a:p>
        </p:txBody>
      </p:sp>
    </p:spTree>
    <p:extLst>
      <p:ext uri="{BB962C8B-B14F-4D97-AF65-F5344CB8AC3E}">
        <p14:creationId xmlns:p14="http://schemas.microsoft.com/office/powerpoint/2010/main" val="42028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C8BC747-B17B-433F-F198-26E6B0A63DDC}"/>
              </a:ext>
            </a:extLst>
          </p:cNvPr>
          <p:cNvSpPr txBox="1"/>
          <p:nvPr/>
        </p:nvSpPr>
        <p:spPr>
          <a:xfrm>
            <a:off x="1582993" y="4481418"/>
            <a:ext cx="78854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STUDENT NAME :  </a:t>
            </a:r>
            <a:r>
              <a:rPr lang="en-GB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KEERTHANA S</a:t>
            </a:r>
            <a:endParaRPr lang="en-US" sz="1800" dirty="0">
              <a:latin typeface="Baskerville Old Face" panose="02020602080505020303" pitchFamily="18" charset="0"/>
            </a:endParaRPr>
          </a:p>
          <a:p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 NO AND NMID : </a:t>
            </a:r>
            <a:r>
              <a:rPr lang="en-GB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2D491DFE6762F3D823E42FD9280</a:t>
            </a: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DEPARTMENT : </a:t>
            </a:r>
            <a:r>
              <a:rPr lang="en-US" sz="1800" b="1" i="1" dirty="0">
                <a:latin typeface="Baskerville Old Face" panose="02020602080505020303" pitchFamily="18" charset="0"/>
              </a:rPr>
              <a:t>BSc Computer Science</a:t>
            </a:r>
          </a:p>
          <a:p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COLLEGE : </a:t>
            </a:r>
            <a:r>
              <a:rPr lang="en-US" sz="1800" b="1" dirty="0">
                <a:latin typeface="Baskerville Old Face" panose="02020602080505020303" pitchFamily="18" charset="0"/>
              </a:rPr>
              <a:t>Vel Tech Ranga </a:t>
            </a:r>
            <a:r>
              <a:rPr lang="en-US" sz="1800" b="1" dirty="0" err="1">
                <a:latin typeface="Baskerville Old Face" panose="02020602080505020303" pitchFamily="18" charset="0"/>
              </a:rPr>
              <a:t>Sanku</a:t>
            </a:r>
            <a:r>
              <a:rPr lang="en-US" sz="1800" b="1" dirty="0">
                <a:latin typeface="Baskerville Old Face" panose="02020602080505020303" pitchFamily="18" charset="0"/>
              </a:rPr>
              <a:t> Arts College / University of Madras</a:t>
            </a:r>
            <a:endParaRPr lang="en-IN" sz="1800" dirty="0">
              <a:latin typeface="Baskerville Old Face" panose="020206020805050203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04FC26-3C87-99C2-6CB7-7C31E2501AB7}"/>
              </a:ext>
            </a:extLst>
          </p:cNvPr>
          <p:cNvSpPr txBox="1"/>
          <p:nvPr/>
        </p:nvSpPr>
        <p:spPr>
          <a:xfrm>
            <a:off x="3942735" y="514533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Portfolio </a:t>
            </a:r>
            <a:br>
              <a:rPr lang="en-US" sz="4000" b="1" u="sng" dirty="0">
                <a:solidFill>
                  <a:srgbClr val="0F0F0F"/>
                </a:solidFill>
                <a:latin typeface="Roboto" panose="020F0502020204030204" pitchFamily="2" charset="0"/>
              </a:rPr>
            </a:b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3192257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0822BB9-726C-8316-DB3F-07E36483A1F6}"/>
              </a:ext>
            </a:extLst>
          </p:cNvPr>
          <p:cNvSpPr txBox="1"/>
          <p:nvPr/>
        </p:nvSpPr>
        <p:spPr>
          <a:xfrm>
            <a:off x="1052050" y="2666689"/>
            <a:ext cx="10068233" cy="3353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/>
              <a:t>Digital Portfolio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/>
              <a:t>Name: </a:t>
            </a:r>
            <a:r>
              <a:rPr lang="en-GB" altLang="en-US" sz="2400" dirty="0"/>
              <a:t>KEERTHANA S</a:t>
            </a:r>
            <a:endParaRPr lang="en-US" altLang="en-US" sz="2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/>
              <a:t>BSc Computer Science, 2nd Year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/>
              <a:t>Key Skills: Java, Web Development, Creative Design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/>
              <a:t>Projects: Web apps, Wallpapers, Logos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/>
              <a:t>Contact: [Email] | [GitHub]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29F332-F537-EB34-24B3-8BD5304EE364}"/>
              </a:ext>
            </a:extLst>
          </p:cNvPr>
          <p:cNvSpPr txBox="1"/>
          <p:nvPr/>
        </p:nvSpPr>
        <p:spPr>
          <a:xfrm>
            <a:off x="737418" y="640735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u="sng" spc="5" dirty="0"/>
              <a:t>PROJECT</a:t>
            </a:r>
            <a:r>
              <a:rPr lang="en-IN" sz="4000" b="1" u="sng" spc="-85" dirty="0"/>
              <a:t> </a:t>
            </a:r>
            <a:r>
              <a:rPr lang="en-IN" sz="4000" b="1" u="sng" spc="25" dirty="0"/>
              <a:t>TITLE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1830573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53DFCC2-5274-950B-C20D-067D7285E667}"/>
              </a:ext>
            </a:extLst>
          </p:cNvPr>
          <p:cNvSpPr txBox="1"/>
          <p:nvPr/>
        </p:nvSpPr>
        <p:spPr>
          <a:xfrm>
            <a:off x="884903" y="2047257"/>
            <a:ext cx="6096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280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buFont typeface="+mj-lt"/>
              <a:buAutoNum type="arabicPeriod"/>
            </a:pPr>
            <a:r>
              <a:rPr lang="en-US" sz="280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>
              <a:buFont typeface="+mj-lt"/>
              <a:buAutoNum type="arabicPeriod"/>
            </a:pPr>
            <a:r>
              <a:rPr lang="en-US" sz="280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</a:p>
          <a:p>
            <a:pPr>
              <a:buFont typeface="+mj-lt"/>
              <a:buAutoNum type="arabicPeriod"/>
            </a:pPr>
            <a:r>
              <a:rPr lang="en-US" sz="280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</a:p>
          <a:p>
            <a:pPr>
              <a:buFont typeface="+mj-lt"/>
              <a:buAutoNum type="arabicPeriod"/>
            </a:pPr>
            <a:r>
              <a:rPr lang="en-US" sz="280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Portfolio design and Layout</a:t>
            </a:r>
          </a:p>
          <a:p>
            <a:pPr>
              <a:buFont typeface="+mj-lt"/>
              <a:buAutoNum type="arabicPeriod"/>
            </a:pPr>
            <a:r>
              <a:rPr lang="en-US" sz="280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Functionality</a:t>
            </a:r>
          </a:p>
          <a:p>
            <a:pPr>
              <a:buFont typeface="+mj-lt"/>
              <a:buAutoNum type="arabicPeriod"/>
            </a:pPr>
            <a:r>
              <a:rPr lang="en-US" sz="280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Screenshots</a:t>
            </a:r>
          </a:p>
          <a:p>
            <a:pPr>
              <a:buFont typeface="+mj-lt"/>
              <a:buAutoNum type="arabicPeriod"/>
            </a:pPr>
            <a:r>
              <a:rPr lang="en-US" sz="280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Font typeface="+mj-lt"/>
              <a:buAutoNum type="arabicPeriod"/>
            </a:pPr>
            <a:r>
              <a:rPr lang="en-US" sz="280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  <a:p>
            <a:endParaRPr lang="en-US" sz="2800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806990-E82C-B934-7B40-564C03F8E210}"/>
              </a:ext>
            </a:extLst>
          </p:cNvPr>
          <p:cNvSpPr txBox="1"/>
          <p:nvPr/>
        </p:nvSpPr>
        <p:spPr>
          <a:xfrm>
            <a:off x="993058" y="72973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u="sng" spc="25" dirty="0"/>
              <a:t>A</a:t>
            </a:r>
            <a:r>
              <a:rPr lang="en-IN" sz="4000" b="1" u="sng" spc="-5" dirty="0"/>
              <a:t>G</a:t>
            </a:r>
            <a:r>
              <a:rPr lang="en-IN" sz="4000" b="1" u="sng" spc="-35" dirty="0"/>
              <a:t>E</a:t>
            </a:r>
            <a:r>
              <a:rPr lang="en-IN" sz="4000" b="1" u="sng" spc="15" dirty="0"/>
              <a:t>N</a:t>
            </a:r>
            <a:r>
              <a:rPr lang="en-IN" sz="4000" b="1" u="sng" dirty="0"/>
              <a:t>DA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1872299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E68F187-2779-F08A-D481-2C958DFF75DA}"/>
              </a:ext>
            </a:extLst>
          </p:cNvPr>
          <p:cNvSpPr txBox="1"/>
          <p:nvPr/>
        </p:nvSpPr>
        <p:spPr>
          <a:xfrm>
            <a:off x="383458" y="1748171"/>
            <a:ext cx="8898194" cy="3913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i="1" dirty="0"/>
              <a:t>In today's digital era, traditional resumes are not enough to effectively showcase skills and projects.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i="1" dirty="0"/>
              <a:t>Many students and professionals lack a structured online presence to highlight their work and achievements.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i="1" dirty="0"/>
              <a:t>A digital portfolio offers an interactive and accessible solution to present skills, experiences, and accomplishments in a modern, engaging way.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7F7663-0ADC-258E-2FAF-96B532D9CF55}"/>
              </a:ext>
            </a:extLst>
          </p:cNvPr>
          <p:cNvSpPr txBox="1"/>
          <p:nvPr/>
        </p:nvSpPr>
        <p:spPr>
          <a:xfrm>
            <a:off x="511277" y="72973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u="sng" spc="-20" dirty="0"/>
              <a:t>P</a:t>
            </a:r>
            <a:r>
              <a:rPr lang="en-IN" sz="4000" b="1" u="sng" spc="15" dirty="0"/>
              <a:t>ROB</a:t>
            </a:r>
            <a:r>
              <a:rPr lang="en-IN" sz="4000" b="1" u="sng" spc="55" dirty="0"/>
              <a:t>L</a:t>
            </a:r>
            <a:r>
              <a:rPr lang="en-IN" sz="4000" b="1" u="sng" spc="-20" dirty="0"/>
              <a:t>E</a:t>
            </a:r>
            <a:r>
              <a:rPr lang="en-IN" sz="4000" b="1" u="sng" spc="20" dirty="0"/>
              <a:t>M</a:t>
            </a:r>
            <a:r>
              <a:rPr lang="en-IN" sz="4000" b="1" u="sng" dirty="0"/>
              <a:t>	</a:t>
            </a:r>
            <a:r>
              <a:rPr lang="en-IN" sz="4000" b="1" u="sng" spc="10" dirty="0"/>
              <a:t>S</a:t>
            </a:r>
            <a:r>
              <a:rPr lang="en-IN" sz="4000" b="1" u="sng" spc="-370" dirty="0"/>
              <a:t>T</a:t>
            </a:r>
            <a:r>
              <a:rPr lang="en-IN" sz="4000" b="1" u="sng" spc="-375" dirty="0"/>
              <a:t>A</a:t>
            </a:r>
            <a:r>
              <a:rPr lang="en-IN" sz="4000" b="1" u="sng" spc="15" dirty="0"/>
              <a:t>T</a:t>
            </a:r>
            <a:r>
              <a:rPr lang="en-IN" sz="4000" b="1" u="sng" spc="-10" dirty="0"/>
              <a:t>E</a:t>
            </a:r>
            <a:r>
              <a:rPr lang="en-IN" sz="4000" b="1" u="sng" spc="-20" dirty="0"/>
              <a:t>ME</a:t>
            </a:r>
            <a:r>
              <a:rPr lang="en-IN" sz="4000" b="1" u="sng" spc="10" dirty="0"/>
              <a:t>NT</a:t>
            </a:r>
            <a:endParaRPr lang="en-IN" sz="4000" b="1" dirty="0"/>
          </a:p>
        </p:txBody>
      </p:sp>
      <p:grpSp>
        <p:nvGrpSpPr>
          <p:cNvPr id="8" name="object 2">
            <a:extLst>
              <a:ext uri="{FF2B5EF4-FFF2-40B4-BE49-F238E27FC236}">
                <a16:creationId xmlns:a16="http://schemas.microsoft.com/office/drawing/2014/main" id="{FCE28405-32E2-DC23-5398-22B064DAB8C3}"/>
              </a:ext>
            </a:extLst>
          </p:cNvPr>
          <p:cNvGrpSpPr/>
          <p:nvPr/>
        </p:nvGrpSpPr>
        <p:grpSpPr>
          <a:xfrm>
            <a:off x="9139699" y="3232355"/>
            <a:ext cx="2762250" cy="3257550"/>
            <a:chOff x="7991475" y="2933700"/>
            <a:chExt cx="2762250" cy="3257550"/>
          </a:xfrm>
        </p:grpSpPr>
        <p:sp>
          <p:nvSpPr>
            <p:cNvPr id="9" name="object 3">
              <a:extLst>
                <a:ext uri="{FF2B5EF4-FFF2-40B4-BE49-F238E27FC236}">
                  <a16:creationId xmlns:a16="http://schemas.microsoft.com/office/drawing/2014/main" id="{61D8814F-DF1D-9B8A-D970-7801C06F1BEB}"/>
                </a:ext>
              </a:extLst>
            </p:cNvPr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C2E78F0D-A0FA-B1CA-A81A-4DDD1BC1EDF1}"/>
                </a:ext>
              </a:extLst>
            </p:cNvPr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5">
              <a:extLst>
                <a:ext uri="{FF2B5EF4-FFF2-40B4-BE49-F238E27FC236}">
                  <a16:creationId xmlns:a16="http://schemas.microsoft.com/office/drawing/2014/main" id="{8C5615F6-6E54-FFFA-4902-9069090D560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1475" y="2933700"/>
              <a:ext cx="2762250" cy="32575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19692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AFD4298-F312-3BA8-A3D1-F550AE93810E}"/>
              </a:ext>
            </a:extLst>
          </p:cNvPr>
          <p:cNvSpPr txBox="1"/>
          <p:nvPr/>
        </p:nvSpPr>
        <p:spPr>
          <a:xfrm>
            <a:off x="727587" y="818225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u="sng" spc="5" dirty="0">
                <a:latin typeface="Arial" panose="020B0604020202020204" pitchFamily="34" charset="0"/>
                <a:cs typeface="Arial" panose="020B0604020202020204" pitchFamily="34" charset="0"/>
              </a:rPr>
              <a:t>PROJECT  </a:t>
            </a:r>
            <a:r>
              <a:rPr lang="en-IN" sz="4000" b="1" u="sng" spc="-20" dirty="0"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  <a:endParaRPr lang="en-IN" sz="4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06B5CB-1A4B-FD25-C42A-7BBBC167B7C4}"/>
              </a:ext>
            </a:extLst>
          </p:cNvPr>
          <p:cNvSpPr txBox="1"/>
          <p:nvPr/>
        </p:nvSpPr>
        <p:spPr>
          <a:xfrm>
            <a:off x="363793" y="1921759"/>
            <a:ext cx="8219769" cy="446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+mj-lt"/>
              </a:rPr>
              <a:t>Brief summary: </a:t>
            </a:r>
            <a:r>
              <a:rPr lang="en-US" altLang="en-US" sz="2400" i="1" dirty="0">
                <a:latin typeface="+mj-lt"/>
              </a:rPr>
              <a:t>This project is a digital portfolio to professionally present my background, skills, and creative work.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+mj-lt"/>
              </a:rPr>
              <a:t>Contains key sections: </a:t>
            </a:r>
            <a:r>
              <a:rPr lang="en-US" altLang="en-US" sz="2400" i="1" dirty="0">
                <a:latin typeface="+mj-lt"/>
              </a:rPr>
              <a:t>About Me, Projects, Skills, and Contact for easy navigation.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+mj-lt"/>
              </a:rPr>
              <a:t>Main idea: </a:t>
            </a:r>
            <a:r>
              <a:rPr lang="en-US" altLang="en-US" sz="2400" i="1" dirty="0">
                <a:latin typeface="+mj-lt"/>
              </a:rPr>
              <a:t>Showcase personal achievements, highlight technical expertise, and display completed projects in an organized manner.</a:t>
            </a:r>
          </a:p>
        </p:txBody>
      </p:sp>
      <p:grpSp>
        <p:nvGrpSpPr>
          <p:cNvPr id="8" name="object 2">
            <a:extLst>
              <a:ext uri="{FF2B5EF4-FFF2-40B4-BE49-F238E27FC236}">
                <a16:creationId xmlns:a16="http://schemas.microsoft.com/office/drawing/2014/main" id="{56B4F928-5B57-13B0-0A25-68FC3E4EF60A}"/>
              </a:ext>
            </a:extLst>
          </p:cNvPr>
          <p:cNvGrpSpPr/>
          <p:nvPr/>
        </p:nvGrpSpPr>
        <p:grpSpPr>
          <a:xfrm>
            <a:off x="8799871" y="2879008"/>
            <a:ext cx="3264310" cy="3861005"/>
            <a:chOff x="8658225" y="2647950"/>
            <a:chExt cx="3533775" cy="3810000"/>
          </a:xfrm>
        </p:grpSpPr>
        <p:sp>
          <p:nvSpPr>
            <p:cNvPr id="9" name="object 3">
              <a:extLst>
                <a:ext uri="{FF2B5EF4-FFF2-40B4-BE49-F238E27FC236}">
                  <a16:creationId xmlns:a16="http://schemas.microsoft.com/office/drawing/2014/main" id="{F4785853-9EC4-9CA6-C1A5-1C634FCCCC1A}"/>
                </a:ext>
              </a:extLst>
            </p:cNvPr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C22D54AF-51A8-DB1B-C04E-2E3025102305}"/>
                </a:ext>
              </a:extLst>
            </p:cNvPr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5">
              <a:extLst>
                <a:ext uri="{FF2B5EF4-FFF2-40B4-BE49-F238E27FC236}">
                  <a16:creationId xmlns:a16="http://schemas.microsoft.com/office/drawing/2014/main" id="{CCDD2C22-1F9B-9CD5-9547-C421FBD2B10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8225" y="2647950"/>
              <a:ext cx="3533775" cy="381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55896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6DCB0FC-9FF9-7F62-F36B-F942FC34BB9A}"/>
              </a:ext>
            </a:extLst>
          </p:cNvPr>
          <p:cNvSpPr txBox="1"/>
          <p:nvPr/>
        </p:nvSpPr>
        <p:spPr>
          <a:xfrm>
            <a:off x="580102" y="719901"/>
            <a:ext cx="74233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spc="25" dirty="0"/>
              <a:t>W</a:t>
            </a:r>
            <a:r>
              <a:rPr lang="en-US" sz="4000" b="1" u="sng" spc="-20" dirty="0"/>
              <a:t>H</a:t>
            </a:r>
            <a:r>
              <a:rPr lang="en-US" sz="4000" b="1" u="sng" spc="20" dirty="0"/>
              <a:t>O</a:t>
            </a:r>
            <a:r>
              <a:rPr lang="en-US" sz="4000" b="1" u="sng" spc="-235" dirty="0"/>
              <a:t> </a:t>
            </a:r>
            <a:r>
              <a:rPr lang="en-US" sz="4000" b="1" u="sng" spc="-10" dirty="0"/>
              <a:t>AR</a:t>
            </a:r>
            <a:r>
              <a:rPr lang="en-US" sz="4000" b="1" u="sng" spc="15" dirty="0"/>
              <a:t>E</a:t>
            </a:r>
            <a:r>
              <a:rPr lang="en-US" sz="4000" b="1" u="sng" spc="-35" dirty="0"/>
              <a:t> </a:t>
            </a:r>
            <a:r>
              <a:rPr lang="en-US" sz="4000" b="1" u="sng" spc="-10" dirty="0"/>
              <a:t>T</a:t>
            </a:r>
            <a:r>
              <a:rPr lang="en-US" sz="4000" b="1" u="sng" spc="-15" dirty="0"/>
              <a:t>H</a:t>
            </a:r>
            <a:r>
              <a:rPr lang="en-US" sz="4000" b="1" u="sng" spc="15" dirty="0"/>
              <a:t>E</a:t>
            </a:r>
            <a:r>
              <a:rPr lang="en-US" sz="4000" b="1" u="sng" spc="-35" dirty="0"/>
              <a:t> </a:t>
            </a:r>
            <a:r>
              <a:rPr lang="en-US" sz="4000" b="1" u="sng" spc="-20" dirty="0"/>
              <a:t>E</a:t>
            </a:r>
            <a:r>
              <a:rPr lang="en-US" sz="4000" b="1" u="sng" spc="30" dirty="0"/>
              <a:t>N</a:t>
            </a:r>
            <a:r>
              <a:rPr lang="en-US" sz="4000" b="1" u="sng" spc="15" dirty="0"/>
              <a:t>D</a:t>
            </a:r>
            <a:r>
              <a:rPr lang="en-US" sz="4000" b="1" u="sng" spc="-45" dirty="0"/>
              <a:t> </a:t>
            </a:r>
            <a:r>
              <a:rPr lang="en-US" sz="4000" b="1" u="sng" dirty="0"/>
              <a:t>U</a:t>
            </a:r>
            <a:r>
              <a:rPr lang="en-US" sz="4000" b="1" u="sng" spc="10" dirty="0"/>
              <a:t>S</a:t>
            </a:r>
            <a:r>
              <a:rPr lang="en-US" sz="4000" b="1" u="sng" spc="-25" dirty="0"/>
              <a:t>E</a:t>
            </a:r>
            <a:r>
              <a:rPr lang="en-US" sz="4000" b="1" u="sng" spc="-10" dirty="0"/>
              <a:t>R</a:t>
            </a:r>
            <a:r>
              <a:rPr lang="en-US" sz="4000" b="1" u="sng" spc="5" dirty="0"/>
              <a:t>S?</a:t>
            </a:r>
            <a:endParaRPr lang="en-IN" sz="4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8D4FEF-5C70-4A8B-77AD-CD056D1A5BCF}"/>
              </a:ext>
            </a:extLst>
          </p:cNvPr>
          <p:cNvSpPr txBox="1"/>
          <p:nvPr/>
        </p:nvSpPr>
        <p:spPr>
          <a:xfrm>
            <a:off x="766915" y="1746670"/>
            <a:ext cx="10235381" cy="4461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Students: </a:t>
            </a:r>
            <a:r>
              <a:rPr lang="en-US" sz="2400" b="0" i="1" dirty="0"/>
              <a:t>Showcase academic projects, assignments, and build resumes for further studies.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Job Seekers: </a:t>
            </a:r>
            <a:r>
              <a:rPr lang="en-US" sz="2400" b="0" i="1" dirty="0"/>
              <a:t>Share skills, experience, and portfolio with recruiters and employers.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Freelancers: </a:t>
            </a:r>
            <a:r>
              <a:rPr lang="en-US" sz="2400" b="0" i="1" dirty="0"/>
              <a:t>Present work samples and completed projects to attract potential clients.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Professionals: </a:t>
            </a:r>
            <a:r>
              <a:rPr lang="en-US" sz="2400" b="0" i="1" dirty="0"/>
              <a:t>Highlight career achievements, expertise, and ongoing development.</a:t>
            </a:r>
          </a:p>
        </p:txBody>
      </p:sp>
    </p:spTree>
    <p:extLst>
      <p:ext uri="{BB962C8B-B14F-4D97-AF65-F5344CB8AC3E}">
        <p14:creationId xmlns:p14="http://schemas.microsoft.com/office/powerpoint/2010/main" val="2669729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F217970-B4D7-3D47-10C5-11E98E93818B}"/>
              </a:ext>
            </a:extLst>
          </p:cNvPr>
          <p:cNvSpPr txBox="1"/>
          <p:nvPr/>
        </p:nvSpPr>
        <p:spPr>
          <a:xfrm>
            <a:off x="648928" y="611746"/>
            <a:ext cx="78264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u="sng" spc="10" dirty="0"/>
              <a:t>TOOLS AND TECHNIQUES</a:t>
            </a:r>
            <a:endParaRPr lang="en-IN" sz="4000" b="1" dirty="0"/>
          </a:p>
        </p:txBody>
      </p:sp>
      <p:pic>
        <p:nvPicPr>
          <p:cNvPr id="6" name="object 2">
            <a:extLst>
              <a:ext uri="{FF2B5EF4-FFF2-40B4-BE49-F238E27FC236}">
                <a16:creationId xmlns:a16="http://schemas.microsoft.com/office/drawing/2014/main" id="{6F0A098B-6D87-C02B-6329-15ABECF26E2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613" y="1692685"/>
            <a:ext cx="2695574" cy="32480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821FBA-85ED-C3B0-11C1-784AC6F28A71}"/>
              </a:ext>
            </a:extLst>
          </p:cNvPr>
          <p:cNvSpPr txBox="1"/>
          <p:nvPr/>
        </p:nvSpPr>
        <p:spPr>
          <a:xfrm>
            <a:off x="3529779" y="1429494"/>
            <a:ext cx="7541343" cy="4195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b="1" dirty="0"/>
              <a:t>HTML: </a:t>
            </a:r>
            <a:r>
              <a:rPr lang="en-IN" sz="2000" i="1" dirty="0"/>
              <a:t>Builds the main structure of all portfolio pages and sections.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b="1" dirty="0"/>
              <a:t>CSS: </a:t>
            </a:r>
            <a:r>
              <a:rPr lang="en-IN" sz="2000" i="1" dirty="0"/>
              <a:t>Styles the portfolio with </a:t>
            </a:r>
            <a:r>
              <a:rPr lang="en-IN" sz="2000" i="1" dirty="0" err="1"/>
              <a:t>colors</a:t>
            </a:r>
            <a:r>
              <a:rPr lang="en-IN" sz="2000" i="1" dirty="0"/>
              <a:t>, layouts, and makes it responsive for all device sizes.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b="1" dirty="0"/>
              <a:t>JavaScript: </a:t>
            </a:r>
            <a:r>
              <a:rPr lang="en-IN" sz="2000" i="1" dirty="0"/>
              <a:t>Adds interactivity-navigation menu, animations, and form validation.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b="1" dirty="0"/>
              <a:t>Code Editor: </a:t>
            </a:r>
            <a:r>
              <a:rPr lang="en-IN" sz="2000" i="1" dirty="0"/>
              <a:t>Developed using VS Code for efficient coding.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b="1" dirty="0"/>
              <a:t>Hosting: </a:t>
            </a:r>
            <a:r>
              <a:rPr lang="en-IN" sz="2000" i="1" dirty="0"/>
              <a:t>Published online using GitHub Pages for easy sharing and access.</a:t>
            </a:r>
          </a:p>
        </p:txBody>
      </p:sp>
    </p:spTree>
    <p:extLst>
      <p:ext uri="{BB962C8B-B14F-4D97-AF65-F5344CB8AC3E}">
        <p14:creationId xmlns:p14="http://schemas.microsoft.com/office/powerpoint/2010/main" val="4229021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C35ED0C-E074-E247-7EE3-707A02287082}"/>
              </a:ext>
            </a:extLst>
          </p:cNvPr>
          <p:cNvSpPr txBox="1"/>
          <p:nvPr/>
        </p:nvSpPr>
        <p:spPr>
          <a:xfrm>
            <a:off x="599767" y="542073"/>
            <a:ext cx="797396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u="sng" spc="15" dirty="0">
                <a:latin typeface="Trebuchet MS"/>
                <a:cs typeface="Trebuchet MS"/>
              </a:rPr>
              <a:t>POTFOLIO DESIGN AND LAYOUT</a:t>
            </a:r>
            <a:br>
              <a:rPr lang="en-IN" sz="4000" b="1" u="sng" dirty="0">
                <a:latin typeface="Trebuchet MS"/>
                <a:cs typeface="Trebuchet MS"/>
              </a:rPr>
            </a:br>
            <a:endParaRPr lang="en-IN" sz="4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55DFB7-DDAC-F390-1EA8-6B6D7E371DBA}"/>
              </a:ext>
            </a:extLst>
          </p:cNvPr>
          <p:cNvSpPr txBox="1"/>
          <p:nvPr/>
        </p:nvSpPr>
        <p:spPr>
          <a:xfrm>
            <a:off x="914400" y="1410270"/>
            <a:ext cx="9812593" cy="4461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b="1" dirty="0"/>
              <a:t>Organized sections: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b="0" i="1" dirty="0"/>
              <a:t>Home/About Me, Projects, Skills, Contact.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b="0" i="1" dirty="0"/>
              <a:t>Consistent color scheme and clean typography throughout the portfolio.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b="0" i="1" dirty="0"/>
              <a:t>Easy navigation bar for smooth movement between sections.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b="0" i="1" dirty="0"/>
              <a:t>Visual elements like icons and images for better engagement.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b="0" i="1" dirty="0"/>
              <a:t>Fully responsive layout optimized for both mobile and desktop devices.</a:t>
            </a:r>
          </a:p>
        </p:txBody>
      </p:sp>
    </p:spTree>
    <p:extLst>
      <p:ext uri="{BB962C8B-B14F-4D97-AF65-F5344CB8AC3E}">
        <p14:creationId xmlns:p14="http://schemas.microsoft.com/office/powerpoint/2010/main" val="2123765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F618641-81CC-255C-2C85-25661F03A46F}"/>
              </a:ext>
            </a:extLst>
          </p:cNvPr>
          <p:cNvSpPr txBox="1"/>
          <p:nvPr/>
        </p:nvSpPr>
        <p:spPr>
          <a:xfrm>
            <a:off x="707923" y="719901"/>
            <a:ext cx="89276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u="sng" dirty="0"/>
              <a:t>FEATURES AND FUNCTIONALITY</a:t>
            </a:r>
            <a:endParaRPr lang="en-IN" sz="4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768D00-BBCC-0CAA-FEDD-6D49FF90D75E}"/>
              </a:ext>
            </a:extLst>
          </p:cNvPr>
          <p:cNvSpPr txBox="1"/>
          <p:nvPr/>
        </p:nvSpPr>
        <p:spPr>
          <a:xfrm>
            <a:off x="599768" y="1427787"/>
            <a:ext cx="10087896" cy="5015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0" i="1" dirty="0"/>
              <a:t>Navigation bar with smooth scrolling for easy access to all sections.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0" i="1" dirty="0"/>
              <a:t>Project showcase including images and detailed descriptions for each project.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0" i="1" dirty="0"/>
              <a:t>Interactive elements such as hover effects and animations to enhance user engagement.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0" i="1" dirty="0"/>
              <a:t>Contact form with validation to ensure correct and complete user input.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0" i="1" dirty="0"/>
              <a:t>Responsive design that works seamlessly on desktop, tablet, and mobile devices.</a:t>
            </a:r>
          </a:p>
        </p:txBody>
      </p:sp>
    </p:spTree>
    <p:extLst>
      <p:ext uri="{BB962C8B-B14F-4D97-AF65-F5344CB8AC3E}">
        <p14:creationId xmlns:p14="http://schemas.microsoft.com/office/powerpoint/2010/main" val="815550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D6D2EA-FBBF-C542-5009-DA7CF0CA2A5A}"/>
              </a:ext>
            </a:extLst>
          </p:cNvPr>
          <p:cNvSpPr txBox="1"/>
          <p:nvPr/>
        </p:nvSpPr>
        <p:spPr>
          <a:xfrm>
            <a:off x="521110" y="631412"/>
            <a:ext cx="94586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u="sng" spc="15" dirty="0"/>
              <a:t>RESULTS AND SCREENSHOTS</a:t>
            </a:r>
            <a:endParaRPr lang="en-IN" sz="4000" b="1" dirty="0"/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6232EE32-DBDA-58D8-6C51-79328F01DE1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2620" y="1618838"/>
            <a:ext cx="2466975" cy="34194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43A4700-9D03-A822-90D9-A1725C9914B1}"/>
              </a:ext>
            </a:extLst>
          </p:cNvPr>
          <p:cNvSpPr txBox="1"/>
          <p:nvPr/>
        </p:nvSpPr>
        <p:spPr>
          <a:xfrm>
            <a:off x="3048000" y="190960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Navigation 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E2514E-E005-A5E0-7C52-84AB50BD2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4673" y="2686484"/>
            <a:ext cx="8128000" cy="308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93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44C8651-3A6C-395D-6199-10F345644BCA}"/>
              </a:ext>
            </a:extLst>
          </p:cNvPr>
          <p:cNvSpPr txBox="1"/>
          <p:nvPr/>
        </p:nvSpPr>
        <p:spPr>
          <a:xfrm>
            <a:off x="452283" y="126372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Aft>
                <a:spcPts val="0"/>
              </a:spcAft>
            </a:pPr>
            <a:r>
              <a:rPr lang="en-IN" sz="2400" b="1" dirty="0"/>
              <a:t>About Me 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39D27E-F9A4-34DD-8ADA-E4B906C33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793" y="1725393"/>
            <a:ext cx="6518413" cy="429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868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E59989C-EA6D-3191-9650-EFA04FC4C9AE}"/>
              </a:ext>
            </a:extLst>
          </p:cNvPr>
          <p:cNvSpPr txBox="1"/>
          <p:nvPr/>
        </p:nvSpPr>
        <p:spPr>
          <a:xfrm>
            <a:off x="585019" y="125084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Skills 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97C5AC-8DBE-AAD0-C7BC-F7768ECF4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945" y="1481676"/>
            <a:ext cx="6776276" cy="465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282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1DE4DE0-C0A3-7742-606A-72FB5AEC6730}"/>
              </a:ext>
            </a:extLst>
          </p:cNvPr>
          <p:cNvSpPr txBox="1"/>
          <p:nvPr/>
        </p:nvSpPr>
        <p:spPr>
          <a:xfrm>
            <a:off x="599767" y="78872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Projects 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634E318-774C-4E6A-935C-835D7CC74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259" y="1250392"/>
            <a:ext cx="5584993" cy="447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399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826DDDF-41C0-E386-4CEA-BA06BD6B714E}"/>
              </a:ext>
            </a:extLst>
          </p:cNvPr>
          <p:cNvSpPr txBox="1"/>
          <p:nvPr/>
        </p:nvSpPr>
        <p:spPr>
          <a:xfrm>
            <a:off x="629265" y="84772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Aft>
                <a:spcPts val="0"/>
              </a:spcAft>
            </a:pPr>
            <a:r>
              <a:rPr lang="en-IN" sz="2400" b="1" dirty="0"/>
              <a:t>Contact Me 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492888-7D7C-D12A-C2BE-5F2BB9449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408" y="1309386"/>
            <a:ext cx="7125413" cy="490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029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E9D0EC0-7DF9-BCCC-C142-8636F176495E}"/>
              </a:ext>
            </a:extLst>
          </p:cNvPr>
          <p:cNvSpPr txBox="1"/>
          <p:nvPr/>
        </p:nvSpPr>
        <p:spPr>
          <a:xfrm>
            <a:off x="344130" y="234222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Aft>
                <a:spcPts val="0"/>
              </a:spcAft>
            </a:pPr>
            <a:r>
              <a:rPr lang="en-IN" sz="2400" b="1" dirty="0"/>
              <a:t> Footer 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EFA2E1-48DE-CC9F-7FF4-30C04B53A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631" y="3375529"/>
            <a:ext cx="8128000" cy="135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250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8C72D30-478C-4016-379B-91D20D03A2BF}"/>
              </a:ext>
            </a:extLst>
          </p:cNvPr>
          <p:cNvSpPr txBox="1"/>
          <p:nvPr/>
        </p:nvSpPr>
        <p:spPr>
          <a:xfrm>
            <a:off x="698090" y="1762121"/>
            <a:ext cx="9517626" cy="3907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</a:rPr>
              <a:t>Highlights of Your Project: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i="1" dirty="0">
                <a:solidFill>
                  <a:schemeClr val="accent4">
                    <a:lumMod val="50000"/>
                  </a:schemeClr>
                </a:solidFill>
              </a:rPr>
              <a:t>Integrates both technical (coding, web development) and creative (design, wallpapers, logos) projects in a single portfolio.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i="1" dirty="0">
                <a:solidFill>
                  <a:schemeClr val="accent4">
                    <a:lumMod val="50000"/>
                  </a:schemeClr>
                </a:solidFill>
              </a:rPr>
              <a:t>Features a user-friendly, visually attractive layout for easy navigation and engagement.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i="1" dirty="0">
                <a:solidFill>
                  <a:schemeClr val="accent4">
                    <a:lumMod val="50000"/>
                  </a:schemeClr>
                </a:solidFill>
              </a:rPr>
              <a:t>Provides interactive elements like clickable project links and external profiles for deeper exploration.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5AD75D-F260-4CD6-BBD4-478CF416E79F}"/>
              </a:ext>
            </a:extLst>
          </p:cNvPr>
          <p:cNvSpPr txBox="1"/>
          <p:nvPr/>
        </p:nvSpPr>
        <p:spPr>
          <a:xfrm>
            <a:off x="698090" y="818618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u="sng" dirty="0"/>
              <a:t>CONCLUSION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32304831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2BEE6E-511B-223F-B894-266215D605C5}"/>
              </a:ext>
            </a:extLst>
          </p:cNvPr>
          <p:cNvSpPr txBox="1"/>
          <p:nvPr/>
        </p:nvSpPr>
        <p:spPr>
          <a:xfrm>
            <a:off x="1327354" y="1475035"/>
            <a:ext cx="8632723" cy="3907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b="1" dirty="0"/>
              <a:t>Final Summary: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i="1" dirty="0"/>
              <a:t>Demonstrates a holistic approach to personal branding and self-presentation in the digital age.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i="1" dirty="0"/>
              <a:t>Offers a comprehensive record of skills, achievements, and creative growth beyond traditional resumes.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i="1" dirty="0"/>
              <a:t>Acts as a dynamic platform adaptable for academic, professional, and creative opportunities</a:t>
            </a:r>
            <a:r>
              <a:rPr lang="en-US" sz="2400" dirty="0"/>
              <a:t>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43282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D5E7168-0FA9-D89E-C49C-1C460DEC5068}"/>
              </a:ext>
            </a:extLst>
          </p:cNvPr>
          <p:cNvSpPr txBox="1"/>
          <p:nvPr/>
        </p:nvSpPr>
        <p:spPr>
          <a:xfrm>
            <a:off x="1435509" y="1742809"/>
            <a:ext cx="8937523" cy="372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/>
              <a:t>Benefits to Society: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i="1" dirty="0"/>
              <a:t>Encourages students and professionals to showcase their real skills and passion authentically.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i="1" dirty="0"/>
              <a:t>Fosters inspiration and knowledge sharing among peers, educators, and professionals.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i="1" dirty="0"/>
              <a:t>Helps bridge the gap between talent and opportunity, supporting career growth and collaboration.</a:t>
            </a:r>
            <a:endParaRPr lang="en-IN" sz="2400" i="1" dirty="0"/>
          </a:p>
        </p:txBody>
      </p:sp>
    </p:spTree>
    <p:extLst>
      <p:ext uri="{BB962C8B-B14F-4D97-AF65-F5344CB8AC3E}">
        <p14:creationId xmlns:p14="http://schemas.microsoft.com/office/powerpoint/2010/main" val="31170829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93787DF-8D19-F244-72B6-EE477295AB79}"/>
              </a:ext>
            </a:extLst>
          </p:cNvPr>
          <p:cNvSpPr txBox="1"/>
          <p:nvPr/>
        </p:nvSpPr>
        <p:spPr>
          <a:xfrm>
            <a:off x="3480619" y="2941146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rgbClr val="C00000"/>
                </a:solidFill>
              </a:rPr>
              <a:t> THANK YOU </a:t>
            </a:r>
            <a:br>
              <a:rPr lang="en-US" sz="5400" b="1" dirty="0">
                <a:solidFill>
                  <a:srgbClr val="C00000"/>
                </a:solidFill>
              </a:rPr>
            </a:br>
            <a:endParaRPr lang="en-IN" sz="5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27245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SavonVTI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6">
    <a:dk1>
      <a:sysClr val="windowText" lastClr="000000"/>
    </a:dk1>
    <a:lt1>
      <a:sysClr val="window" lastClr="FFFFFF"/>
    </a:lt1>
    <a:dk2>
      <a:srgbClr val="121316"/>
    </a:dk2>
    <a:lt2>
      <a:srgbClr val="FEFCF7"/>
    </a:lt2>
    <a:accent1>
      <a:srgbClr val="8394A4"/>
    </a:accent1>
    <a:accent2>
      <a:srgbClr val="65739F"/>
    </a:accent2>
    <a:accent3>
      <a:srgbClr val="B2AC8A"/>
    </a:accent3>
    <a:accent4>
      <a:srgbClr val="879BB3"/>
    </a:accent4>
    <a:accent5>
      <a:srgbClr val="D7B579"/>
    </a:accent5>
    <a:accent6>
      <a:srgbClr val="8A9B89"/>
    </a:accent6>
    <a:hlink>
      <a:srgbClr val="85C4D2"/>
    </a:hlink>
    <a:folHlink>
      <a:srgbClr val="8E8CA7"/>
    </a:folHlink>
  </a:clrScheme>
</a:themeOverride>
</file>

<file path=ppt/theme/themeOverride2.xml><?xml version="1.0" encoding="utf-8"?>
<a:themeOverride xmlns:a="http://schemas.openxmlformats.org/drawingml/2006/main">
  <a:clrScheme name="Custom 46">
    <a:dk1>
      <a:sysClr val="windowText" lastClr="000000"/>
    </a:dk1>
    <a:lt1>
      <a:sysClr val="window" lastClr="FFFFFF"/>
    </a:lt1>
    <a:dk2>
      <a:srgbClr val="121316"/>
    </a:dk2>
    <a:lt2>
      <a:srgbClr val="FEFCF7"/>
    </a:lt2>
    <a:accent1>
      <a:srgbClr val="8394A4"/>
    </a:accent1>
    <a:accent2>
      <a:srgbClr val="65739F"/>
    </a:accent2>
    <a:accent3>
      <a:srgbClr val="B2AC8A"/>
    </a:accent3>
    <a:accent4>
      <a:srgbClr val="879BB3"/>
    </a:accent4>
    <a:accent5>
      <a:srgbClr val="D7B579"/>
    </a:accent5>
    <a:accent6>
      <a:srgbClr val="8A9B89"/>
    </a:accent6>
    <a:hlink>
      <a:srgbClr val="85C4D2"/>
    </a:hlink>
    <a:folHlink>
      <a:srgbClr val="8E8CA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6BCBFB-BBC7-42F1-95CD-058E172363A0}">
  <ds:schemaRefs>
    <ds:schemaRef ds:uri="http://schemas.microsoft.com/office/2006/metadata/properties"/>
    <ds:schemaRef ds:uri="http://www.w3.org/2000/xmlns/"/>
    <ds:schemaRef ds:uri="71af3243-3dd4-4a8d-8c0d-dd76da1f02a5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{1259D436-C82E-43E0-8A01-53DF9CED60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91CDEB-92ED-41DC-BF33-2916A7687628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71af3243-3dd4-4a8d-8c0d-dd76da1f02a5"/>
    <ds:schemaRef ds:uri="16c05727-aa75-4e4a-9b5f-8a80a116589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{D2B1A255-5CDC-419A-8D0A-CF789951F306}tf11531919_win32</Template>
  <TotalTime>31</TotalTime>
  <Words>650</Words>
  <Application>Microsoft Office PowerPoint</Application>
  <PresentationFormat>Widescreen</PresentationFormat>
  <Paragraphs>79</Paragraphs>
  <Slides>20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SavonVTI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kishore D</dc:creator>
  <cp:lastModifiedBy>Barath T</cp:lastModifiedBy>
  <cp:revision>2</cp:revision>
  <dcterms:created xsi:type="dcterms:W3CDTF">2025-09-12T16:30:01Z</dcterms:created>
  <dcterms:modified xsi:type="dcterms:W3CDTF">2025-09-19T06:05:33Z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